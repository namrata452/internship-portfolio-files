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HappyHour Co. – 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Overview:</a:t>
            </a:r>
          </a:p>
          <a:p>
            <a:r>
              <a:t>• Asia-based producer and marketer of beer, spirits, and non-alcoholic beverages</a:t>
            </a:r>
          </a:p>
          <a:p>
            <a:r>
              <a:t>• Vertically integrated with manufacturing, distribution, and direct sales</a:t>
            </a:r>
          </a:p>
          <a:p>
            <a:r>
              <a:t>• Operations across Singapore, Malaysia, and China; expansion planned in Cambodia</a:t>
            </a:r>
          </a:p>
          <a:p/>
          <a:p>
            <a:r>
              <a:t>Ownership Structure:</a:t>
            </a:r>
          </a:p>
          <a:p>
            <a:r>
              <a:t>• Happy Family (Founder): 60%</a:t>
            </a:r>
          </a:p>
          <a:p>
            <a:r>
              <a:t>• Hour Family: 20%</a:t>
            </a:r>
          </a:p>
          <a:p>
            <a:r>
              <a:t>• Co Family: 20%</a:t>
            </a:r>
          </a:p>
          <a:p/>
          <a:p>
            <a:r>
              <a:t>Key Financials (US$ mm):</a:t>
            </a:r>
          </a:p>
          <a:p>
            <a:r>
              <a:t>• FY20E Revenue: 1,071</a:t>
            </a:r>
          </a:p>
          <a:p>
            <a:r>
              <a:t>• FY20E EBITDA: 300 (EBITDA margin: ~28%)</a:t>
            </a:r>
          </a:p>
          <a:p>
            <a:r>
              <a:t>• FY20E Net Profit (NPAT): 193 (Net margin: ~18%)</a:t>
            </a:r>
          </a:p>
          <a:p/>
          <a:p>
            <a:r>
              <a:t>Indicative Valuation:</a:t>
            </a:r>
          </a:p>
          <a:p>
            <a:r>
              <a:t>• Implied EV: US$ 3.0–3.5bn (10.0x–11.5x FY20E EBITDA)</a:t>
            </a:r>
          </a:p>
          <a:p>
            <a:r>
              <a:t>• Rumored valuation expectation: ~US$ 3.5bn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Auction Process Overview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Overview:</a:t>
            </a:r>
          </a:p>
          <a:p>
            <a:r>
              <a:t>• Sale of 60% stake held by Happy Family</a:t>
            </a:r>
          </a:p>
          <a:p>
            <a:r>
              <a:t>• Objective: bring in a global strategic partner</a:t>
            </a:r>
          </a:p>
          <a:p/>
          <a:p>
            <a:r>
              <a:t>Indicative Bid Phase:</a:t>
            </a:r>
          </a:p>
          <a:p>
            <a:r>
              <a:t>• Information memorandum and VDD access: March 19, 2020</a:t>
            </a:r>
          </a:p>
          <a:p>
            <a:r>
              <a:t>• Limited Q&amp;A window: April 9–13, 2020</a:t>
            </a:r>
          </a:p>
          <a:p>
            <a:r>
              <a:t>• Indicative bids due: May 13, 2020</a:t>
            </a:r>
          </a:p>
          <a:p/>
          <a:p>
            <a:r>
              <a:t>Final Bid Phase (for shortlisted bidders):</a:t>
            </a:r>
          </a:p>
          <a:p>
            <a:r>
              <a:t>• Starts late May 2020</a:t>
            </a:r>
          </a:p>
          <a:p>
            <a:r>
              <a:t>• Management presentations, site visits, detailed diligence</a:t>
            </a:r>
          </a:p>
          <a:p>
            <a:r>
              <a:t>• Binding final bids due: Late July 2020</a:t>
            </a:r>
          </a:p>
          <a:p/>
          <a:p>
            <a:r>
              <a:t>Recommended Next Steps:</a:t>
            </a:r>
          </a:p>
          <a:p>
            <a:r>
              <a:t>• Review IM and financial forecasts</a:t>
            </a:r>
          </a:p>
          <a:p>
            <a:r>
              <a:t>• Develop high-level valuation and strategic rationale</a:t>
            </a:r>
          </a:p>
          <a:p>
            <a:r>
              <a:t>• Decide on participation and prepare indicative bid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